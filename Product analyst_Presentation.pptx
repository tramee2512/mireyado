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5"/>
  </p:notesMasterIdLst>
  <p:sldIdLst>
    <p:sldId id="298" r:id="rId5"/>
    <p:sldId id="307" r:id="rId6"/>
    <p:sldId id="318" r:id="rId7"/>
    <p:sldId id="309" r:id="rId8"/>
    <p:sldId id="310" r:id="rId9"/>
    <p:sldId id="311" r:id="rId10"/>
    <p:sldId id="312" r:id="rId11"/>
    <p:sldId id="316" r:id="rId12"/>
    <p:sldId id="320" r:id="rId13"/>
    <p:sldId id="31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124" autoAdjust="0"/>
  </p:normalViewPr>
  <p:slideViewPr>
    <p:cSldViewPr snapToGrid="0">
      <p:cViewPr varScale="1">
        <p:scale>
          <a:sx n="96" d="100"/>
          <a:sy n="96" d="100"/>
        </p:scale>
        <p:origin x="10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D6C85-3199-4ACE-B28B-4BE42FB42391}" type="datetimeFigureOut">
              <a:rPr lang="en-AU" smtClean="0"/>
              <a:t>25/09/2025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652BFE-8F33-4A78-8899-9142A282B4D7}" type="slidenum">
              <a:rPr lang="en-AU" smtClean="0"/>
              <a:t>‹#›</a:t>
            </a:fld>
            <a:endParaRPr lang="en-AU"/>
          </a:p>
        </p:txBody>
      </p:sp>
    </p:spTree>
    <p:extLst>
      <p:ext uri="{BB962C8B-B14F-4D97-AF65-F5344CB8AC3E}">
        <p14:creationId xmlns:p14="http://schemas.microsoft.com/office/powerpoint/2010/main" val="3384925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D652BFE-8F33-4A78-8899-9142A282B4D7}" type="slidenum">
              <a:rPr lang="en-AU" smtClean="0"/>
              <a:t>4</a:t>
            </a:fld>
            <a:endParaRPr lang="en-AU"/>
          </a:p>
        </p:txBody>
      </p:sp>
    </p:spTree>
    <p:extLst>
      <p:ext uri="{BB962C8B-B14F-4D97-AF65-F5344CB8AC3E}">
        <p14:creationId xmlns:p14="http://schemas.microsoft.com/office/powerpoint/2010/main" val="1439380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D652BFE-8F33-4A78-8899-9142A282B4D7}" type="slidenum">
              <a:rPr lang="en-AU" smtClean="0"/>
              <a:t>5</a:t>
            </a:fld>
            <a:endParaRPr lang="en-AU"/>
          </a:p>
        </p:txBody>
      </p:sp>
    </p:spTree>
    <p:extLst>
      <p:ext uri="{BB962C8B-B14F-4D97-AF65-F5344CB8AC3E}">
        <p14:creationId xmlns:p14="http://schemas.microsoft.com/office/powerpoint/2010/main" val="1222221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D652BFE-8F33-4A78-8899-9142A282B4D7}" type="slidenum">
              <a:rPr lang="en-AU" smtClean="0"/>
              <a:t>6</a:t>
            </a:fld>
            <a:endParaRPr lang="en-AU"/>
          </a:p>
        </p:txBody>
      </p:sp>
    </p:spTree>
    <p:extLst>
      <p:ext uri="{BB962C8B-B14F-4D97-AF65-F5344CB8AC3E}">
        <p14:creationId xmlns:p14="http://schemas.microsoft.com/office/powerpoint/2010/main" val="3603015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D652BFE-8F33-4A78-8899-9142A282B4D7}" type="slidenum">
              <a:rPr lang="en-AU" smtClean="0"/>
              <a:t>8</a:t>
            </a:fld>
            <a:endParaRPr lang="en-AU"/>
          </a:p>
        </p:txBody>
      </p:sp>
    </p:spTree>
    <p:extLst>
      <p:ext uri="{BB962C8B-B14F-4D97-AF65-F5344CB8AC3E}">
        <p14:creationId xmlns:p14="http://schemas.microsoft.com/office/powerpoint/2010/main" val="2111005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D652BFE-8F33-4A78-8899-9142A282B4D7}" type="slidenum">
              <a:rPr lang="en-AU" smtClean="0"/>
              <a:t>9</a:t>
            </a:fld>
            <a:endParaRPr lang="en-AU"/>
          </a:p>
        </p:txBody>
      </p:sp>
    </p:spTree>
    <p:extLst>
      <p:ext uri="{BB962C8B-B14F-4D97-AF65-F5344CB8AC3E}">
        <p14:creationId xmlns:p14="http://schemas.microsoft.com/office/powerpoint/2010/main" val="25104937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D652BFE-8F33-4A78-8899-9142A282B4D7}" type="slidenum">
              <a:rPr lang="en-AU" smtClean="0"/>
              <a:t>10</a:t>
            </a:fld>
            <a:endParaRPr lang="en-AU"/>
          </a:p>
        </p:txBody>
      </p:sp>
    </p:spTree>
    <p:extLst>
      <p:ext uri="{BB962C8B-B14F-4D97-AF65-F5344CB8AC3E}">
        <p14:creationId xmlns:p14="http://schemas.microsoft.com/office/powerpoint/2010/main" val="1246502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9/23/2025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9/23/2025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9/23/2025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9/23/2025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9/23/2025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9/23/2025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9/23/2025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9/23/2025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9/23/2025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9/23/2025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4400" dirty="0"/>
              <a:t>Same-Day Purchase Speed Analysis</a:t>
            </a:r>
            <a:endParaRPr lang="en-US" sz="4400" dirty="0">
              <a:solidFill>
                <a:schemeClr val="tx1"/>
              </a:solidFill>
            </a:endParaRP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96660-8A82-6707-7FB1-E28BC93A2CD0}"/>
              </a:ext>
            </a:extLst>
          </p:cNvPr>
          <p:cNvSpPr>
            <a:spLocks noGrp="1"/>
          </p:cNvSpPr>
          <p:nvPr>
            <p:ph type="title"/>
          </p:nvPr>
        </p:nvSpPr>
        <p:spPr/>
        <p:txBody>
          <a:bodyPr/>
          <a:lstStyle/>
          <a:p>
            <a:r>
              <a:rPr lang="en-AU" dirty="0"/>
              <a:t>Objectives</a:t>
            </a:r>
          </a:p>
        </p:txBody>
      </p:sp>
      <p:sp>
        <p:nvSpPr>
          <p:cNvPr id="3" name="Content Placeholder 2">
            <a:extLst>
              <a:ext uri="{FF2B5EF4-FFF2-40B4-BE49-F238E27FC236}">
                <a16:creationId xmlns:a16="http://schemas.microsoft.com/office/drawing/2014/main" id="{F7920A65-BA8A-A548-0445-4F1F96D8E360}"/>
              </a:ext>
            </a:extLst>
          </p:cNvPr>
          <p:cNvSpPr>
            <a:spLocks noGrp="1"/>
          </p:cNvSpPr>
          <p:nvPr>
            <p:ph idx="1"/>
          </p:nvPr>
        </p:nvSpPr>
        <p:spPr/>
        <p:txBody>
          <a:bodyPr/>
          <a:lstStyle/>
          <a:p>
            <a:r>
              <a:rPr lang="en-US" dirty="0"/>
              <a:t>Understand the time it takes for users to make their first purchase within the same day after arriving on the site, and identify patterns across device types, acquisition channels, and time of day to analyze user behaviors and optimize conversion flows.</a:t>
            </a:r>
          </a:p>
        </p:txBody>
      </p:sp>
    </p:spTree>
    <p:extLst>
      <p:ext uri="{BB962C8B-B14F-4D97-AF65-F5344CB8AC3E}">
        <p14:creationId xmlns:p14="http://schemas.microsoft.com/office/powerpoint/2010/main" val="3021793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7B429-5393-6CA2-1C4D-06BD017349A2}"/>
              </a:ext>
            </a:extLst>
          </p:cNvPr>
          <p:cNvSpPr>
            <a:spLocks noGrp="1"/>
          </p:cNvSpPr>
          <p:nvPr>
            <p:ph type="title"/>
          </p:nvPr>
        </p:nvSpPr>
        <p:spPr/>
        <p:txBody>
          <a:bodyPr vert="horz" lIns="91440" tIns="45720" rIns="91440" bIns="45720" rtlCol="0" anchor="b">
            <a:normAutofit/>
          </a:bodyPr>
          <a:lstStyle/>
          <a:p>
            <a:r>
              <a:rPr lang="en-US" sz="3600" dirty="0"/>
              <a:t>How fast do users purchase after arriving?</a:t>
            </a:r>
            <a:endParaRPr lang="en-AU" sz="3600" dirty="0"/>
          </a:p>
        </p:txBody>
      </p:sp>
      <p:sp>
        <p:nvSpPr>
          <p:cNvPr id="3" name="Content Placeholder 2">
            <a:extLst>
              <a:ext uri="{FF2B5EF4-FFF2-40B4-BE49-F238E27FC236}">
                <a16:creationId xmlns:a16="http://schemas.microsoft.com/office/drawing/2014/main" id="{44CB055C-BD07-D87F-D119-E780AD93B54A}"/>
              </a:ext>
            </a:extLst>
          </p:cNvPr>
          <p:cNvSpPr>
            <a:spLocks noGrp="1"/>
          </p:cNvSpPr>
          <p:nvPr>
            <p:ph idx="1"/>
          </p:nvPr>
        </p:nvSpPr>
        <p:spPr/>
        <p:txBody>
          <a:bodyPr/>
          <a:lstStyle/>
          <a:p>
            <a:pPr>
              <a:buFont typeface="Wingdings" panose="05000000000000000000" pitchFamily="2" charset="2"/>
              <a:buChar char="§"/>
            </a:pPr>
            <a:r>
              <a:rPr lang="en-US" dirty="0"/>
              <a:t>  Analyze 4793 purchases in 3-month period from November 2020 to January 2021</a:t>
            </a:r>
          </a:p>
          <a:p>
            <a:pPr>
              <a:buFont typeface="Wingdings" panose="05000000000000000000" pitchFamily="2" charset="2"/>
              <a:buChar char="§"/>
            </a:pPr>
            <a:r>
              <a:rPr lang="en-US" dirty="0"/>
              <a:t>  Typical user buys in 19 minutes.</a:t>
            </a:r>
          </a:p>
          <a:p>
            <a:pPr>
              <a:buFont typeface="Wingdings" panose="05000000000000000000" pitchFamily="2" charset="2"/>
              <a:buChar char="§"/>
            </a:pPr>
            <a:r>
              <a:rPr lang="en-US" dirty="0"/>
              <a:t>  41% within 15 minutes, 65% within 30 minutes. </a:t>
            </a:r>
          </a:p>
          <a:p>
            <a:pPr>
              <a:buFont typeface="Wingdings" panose="05000000000000000000" pitchFamily="2" charset="2"/>
              <a:buChar char="§"/>
            </a:pPr>
            <a:r>
              <a:rPr lang="en-US" dirty="0"/>
              <a:t>  Outliers exist ( maximum duration 1415 minutes) and drive the average up (74.71 minutes)</a:t>
            </a:r>
          </a:p>
          <a:p>
            <a:pPr>
              <a:buFont typeface="Wingdings" panose="05000000000000000000" pitchFamily="2" charset="2"/>
              <a:buChar char="§"/>
            </a:pPr>
            <a:endParaRPr lang="en-AU" dirty="0"/>
          </a:p>
        </p:txBody>
      </p:sp>
    </p:spTree>
    <p:extLst>
      <p:ext uri="{BB962C8B-B14F-4D97-AF65-F5344CB8AC3E}">
        <p14:creationId xmlns:p14="http://schemas.microsoft.com/office/powerpoint/2010/main" val="2913037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F04A9-8761-B6BF-8D4F-8140AA9E84ED}"/>
              </a:ext>
            </a:extLst>
          </p:cNvPr>
          <p:cNvSpPr>
            <a:spLocks noGrp="1"/>
          </p:cNvSpPr>
          <p:nvPr>
            <p:ph type="title"/>
          </p:nvPr>
        </p:nvSpPr>
        <p:spPr/>
        <p:txBody>
          <a:bodyPr>
            <a:normAutofit/>
          </a:bodyPr>
          <a:lstStyle/>
          <a:p>
            <a:r>
              <a:rPr lang="en-US" sz="3600" dirty="0"/>
              <a:t>Has purchase speed changed over time?</a:t>
            </a:r>
            <a:endParaRPr lang="en-AU" sz="3600" dirty="0"/>
          </a:p>
        </p:txBody>
      </p:sp>
      <p:pic>
        <p:nvPicPr>
          <p:cNvPr id="5" name="Picture 4">
            <a:extLst>
              <a:ext uri="{FF2B5EF4-FFF2-40B4-BE49-F238E27FC236}">
                <a16:creationId xmlns:a16="http://schemas.microsoft.com/office/drawing/2014/main" id="{FE0C429D-5075-987E-5FF3-31BC61098A78}"/>
              </a:ext>
            </a:extLst>
          </p:cNvPr>
          <p:cNvPicPr>
            <a:picLocks noChangeAspect="1"/>
          </p:cNvPicPr>
          <p:nvPr/>
        </p:nvPicPr>
        <p:blipFill>
          <a:blip r:embed="rId3"/>
          <a:stretch>
            <a:fillRect/>
          </a:stretch>
        </p:blipFill>
        <p:spPr>
          <a:xfrm>
            <a:off x="1214136" y="2337257"/>
            <a:ext cx="6228607" cy="3353538"/>
          </a:xfrm>
          <a:prstGeom prst="rect">
            <a:avLst/>
          </a:prstGeom>
        </p:spPr>
      </p:pic>
      <p:sp>
        <p:nvSpPr>
          <p:cNvPr id="11" name="TextBox 10">
            <a:extLst>
              <a:ext uri="{FF2B5EF4-FFF2-40B4-BE49-F238E27FC236}">
                <a16:creationId xmlns:a16="http://schemas.microsoft.com/office/drawing/2014/main" id="{21803C5A-A06B-69DF-A468-0F879A6C0ABF}"/>
              </a:ext>
            </a:extLst>
          </p:cNvPr>
          <p:cNvSpPr txBox="1"/>
          <p:nvPr/>
        </p:nvSpPr>
        <p:spPr>
          <a:xfrm>
            <a:off x="7767022" y="2569242"/>
            <a:ext cx="3528508" cy="2644827"/>
          </a:xfrm>
          <a:prstGeom prst="rect">
            <a:avLst/>
          </a:prstGeom>
          <a:noFill/>
        </p:spPr>
        <p:txBody>
          <a:bodyPr wrap="square">
            <a:spAutoFit/>
          </a:bodyPr>
          <a:lstStyle/>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700" dirty="0">
                <a:solidFill>
                  <a:schemeClr val="tx1">
                    <a:lumMod val="75000"/>
                    <a:lumOff val="25000"/>
                  </a:schemeClr>
                </a:solidFill>
              </a:rPr>
              <a:t> Typical user behavior is consistent over the period.</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700" dirty="0">
                <a:solidFill>
                  <a:schemeClr val="tx1">
                    <a:lumMod val="75000"/>
                    <a:lumOff val="25000"/>
                  </a:schemeClr>
                </a:solidFill>
              </a:rPr>
              <a:t> Median duration is stable and low</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700" dirty="0">
                <a:solidFill>
                  <a:schemeClr val="tx1">
                    <a:lumMod val="75000"/>
                    <a:lumOff val="25000"/>
                  </a:schemeClr>
                </a:solidFill>
              </a:rPr>
              <a:t> Average fluctuates due to outliers.</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700" dirty="0">
                <a:solidFill>
                  <a:schemeClr val="tx1">
                    <a:lumMod val="75000"/>
                    <a:lumOff val="25000"/>
                  </a:schemeClr>
                </a:solidFill>
              </a:rPr>
              <a:t> Median is the more reliable KPI for product decisions.</a:t>
            </a:r>
            <a:endParaRPr lang="en-AU" sz="1700" dirty="0">
              <a:solidFill>
                <a:schemeClr val="tx1">
                  <a:lumMod val="75000"/>
                  <a:lumOff val="25000"/>
                </a:schemeClr>
              </a:solidFill>
            </a:endParaRPr>
          </a:p>
          <a:p>
            <a:endParaRPr lang="en-AU" sz="1700" dirty="0"/>
          </a:p>
        </p:txBody>
      </p:sp>
    </p:spTree>
    <p:extLst>
      <p:ext uri="{BB962C8B-B14F-4D97-AF65-F5344CB8AC3E}">
        <p14:creationId xmlns:p14="http://schemas.microsoft.com/office/powerpoint/2010/main" val="1663024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1C3C-0B32-D76E-1017-CCC9EED5DA2D}"/>
              </a:ext>
            </a:extLst>
          </p:cNvPr>
          <p:cNvSpPr>
            <a:spLocks noGrp="1"/>
          </p:cNvSpPr>
          <p:nvPr>
            <p:ph type="title"/>
          </p:nvPr>
        </p:nvSpPr>
        <p:spPr/>
        <p:txBody>
          <a:bodyPr vert="horz" lIns="91440" tIns="45720" rIns="91440" bIns="45720" rtlCol="0" anchor="b">
            <a:noAutofit/>
          </a:bodyPr>
          <a:lstStyle/>
          <a:p>
            <a:br>
              <a:rPr lang="en-US" sz="3600" dirty="0"/>
            </a:br>
            <a:r>
              <a:rPr lang="en-US" sz="3600" dirty="0"/>
              <a:t>Do purchase speeds differ by device types?</a:t>
            </a:r>
            <a:endParaRPr lang="en-AU" sz="3600" dirty="0"/>
          </a:p>
        </p:txBody>
      </p:sp>
      <p:pic>
        <p:nvPicPr>
          <p:cNvPr id="5" name="Content Placeholder 4">
            <a:extLst>
              <a:ext uri="{FF2B5EF4-FFF2-40B4-BE49-F238E27FC236}">
                <a16:creationId xmlns:a16="http://schemas.microsoft.com/office/drawing/2014/main" id="{B7E01E9B-74BD-6A5F-FB87-87A283485945}"/>
              </a:ext>
            </a:extLst>
          </p:cNvPr>
          <p:cNvPicPr>
            <a:picLocks noGrp="1" noChangeAspect="1"/>
          </p:cNvPicPr>
          <p:nvPr>
            <p:ph idx="1"/>
          </p:nvPr>
        </p:nvPicPr>
        <p:blipFill>
          <a:blip r:embed="rId3"/>
          <a:stretch>
            <a:fillRect/>
          </a:stretch>
        </p:blipFill>
        <p:spPr>
          <a:xfrm>
            <a:off x="7487322" y="1934969"/>
            <a:ext cx="3227293" cy="2356644"/>
          </a:xfrm>
          <a:prstGeom prst="rect">
            <a:avLst/>
          </a:prstGeom>
        </p:spPr>
      </p:pic>
      <p:pic>
        <p:nvPicPr>
          <p:cNvPr id="7" name="Picture 6">
            <a:extLst>
              <a:ext uri="{FF2B5EF4-FFF2-40B4-BE49-F238E27FC236}">
                <a16:creationId xmlns:a16="http://schemas.microsoft.com/office/drawing/2014/main" id="{1DEE76DB-FAA5-B960-1717-F9FB569C5C46}"/>
              </a:ext>
            </a:extLst>
          </p:cNvPr>
          <p:cNvPicPr>
            <a:picLocks noChangeAspect="1"/>
          </p:cNvPicPr>
          <p:nvPr/>
        </p:nvPicPr>
        <p:blipFill>
          <a:blip r:embed="rId4"/>
          <a:stretch>
            <a:fillRect/>
          </a:stretch>
        </p:blipFill>
        <p:spPr>
          <a:xfrm>
            <a:off x="7487322" y="4323887"/>
            <a:ext cx="3227293" cy="2058145"/>
          </a:xfrm>
          <a:prstGeom prst="rect">
            <a:avLst/>
          </a:prstGeom>
        </p:spPr>
      </p:pic>
      <p:sp>
        <p:nvSpPr>
          <p:cNvPr id="9" name="TextBox 8">
            <a:extLst>
              <a:ext uri="{FF2B5EF4-FFF2-40B4-BE49-F238E27FC236}">
                <a16:creationId xmlns:a16="http://schemas.microsoft.com/office/drawing/2014/main" id="{AD9BDF7D-4535-AB9F-2BF2-711BED08B662}"/>
              </a:ext>
            </a:extLst>
          </p:cNvPr>
          <p:cNvSpPr txBox="1"/>
          <p:nvPr/>
        </p:nvSpPr>
        <p:spPr>
          <a:xfrm>
            <a:off x="1097280" y="2432796"/>
            <a:ext cx="6088828" cy="3282437"/>
          </a:xfrm>
          <a:prstGeom prst="rect">
            <a:avLst/>
          </a:prstGeom>
          <a:noFill/>
        </p:spPr>
        <p:txBody>
          <a:bodyPr wrap="square">
            <a:spAutoFit/>
          </a:bodyPr>
          <a:lstStyle/>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Median duration is similar across devices.</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Desktop drives the largest purchase volume but show longer delays and more outliers, optimizing it might bring the highest ROI.</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Tablet users has shorter and more consistent purchase durations, but its impact is small because the user base is tiny</a:t>
            </a:r>
            <a:endParaRPr lang="en-AU" sz="1900" dirty="0">
              <a:solidFill>
                <a:schemeClr val="tx1">
                  <a:lumMod val="75000"/>
                  <a:lumOff val="25000"/>
                </a:schemeClr>
              </a:solidFill>
            </a:endParaRPr>
          </a:p>
          <a:p>
            <a:endParaRPr lang="en-US" dirty="0"/>
          </a:p>
          <a:p>
            <a:endParaRPr lang="en-AU" dirty="0"/>
          </a:p>
        </p:txBody>
      </p:sp>
    </p:spTree>
    <p:extLst>
      <p:ext uri="{BB962C8B-B14F-4D97-AF65-F5344CB8AC3E}">
        <p14:creationId xmlns:p14="http://schemas.microsoft.com/office/powerpoint/2010/main" val="493156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D6C1C-1D6D-49B0-AFCB-8218BC3E082C}"/>
              </a:ext>
            </a:extLst>
          </p:cNvPr>
          <p:cNvSpPr>
            <a:spLocks noGrp="1"/>
          </p:cNvSpPr>
          <p:nvPr>
            <p:ph type="title"/>
          </p:nvPr>
        </p:nvSpPr>
        <p:spPr>
          <a:xfrm>
            <a:off x="1097279" y="286603"/>
            <a:ext cx="10314791" cy="1450757"/>
          </a:xfrm>
        </p:spPr>
        <p:txBody>
          <a:bodyPr>
            <a:normAutofit/>
          </a:bodyPr>
          <a:lstStyle/>
          <a:p>
            <a:r>
              <a:rPr lang="en-US" sz="3600" dirty="0"/>
              <a:t>Which medium bring faster or slower buyers?</a:t>
            </a:r>
            <a:endParaRPr lang="en-AU" sz="3600" dirty="0"/>
          </a:p>
        </p:txBody>
      </p:sp>
      <p:pic>
        <p:nvPicPr>
          <p:cNvPr id="5" name="Content Placeholder 4">
            <a:extLst>
              <a:ext uri="{FF2B5EF4-FFF2-40B4-BE49-F238E27FC236}">
                <a16:creationId xmlns:a16="http://schemas.microsoft.com/office/drawing/2014/main" id="{C3A37713-03C4-D1BB-CCC2-3A2363757922}"/>
              </a:ext>
            </a:extLst>
          </p:cNvPr>
          <p:cNvPicPr>
            <a:picLocks noGrp="1" noChangeAspect="1"/>
          </p:cNvPicPr>
          <p:nvPr>
            <p:ph idx="1"/>
          </p:nvPr>
        </p:nvPicPr>
        <p:blipFill>
          <a:blip r:embed="rId3"/>
          <a:stretch>
            <a:fillRect/>
          </a:stretch>
        </p:blipFill>
        <p:spPr>
          <a:xfrm>
            <a:off x="5671274" y="2377966"/>
            <a:ext cx="5423447" cy="3419563"/>
          </a:xfrm>
          <a:prstGeom prst="rect">
            <a:avLst/>
          </a:prstGeom>
        </p:spPr>
      </p:pic>
      <p:sp>
        <p:nvSpPr>
          <p:cNvPr id="7" name="TextBox 6">
            <a:extLst>
              <a:ext uri="{FF2B5EF4-FFF2-40B4-BE49-F238E27FC236}">
                <a16:creationId xmlns:a16="http://schemas.microsoft.com/office/drawing/2014/main" id="{4C018FF4-8724-B2F0-E421-94187B2D38A7}"/>
              </a:ext>
            </a:extLst>
          </p:cNvPr>
          <p:cNvSpPr txBox="1"/>
          <p:nvPr/>
        </p:nvSpPr>
        <p:spPr>
          <a:xfrm>
            <a:off x="1097279" y="2496300"/>
            <a:ext cx="4303060" cy="2177263"/>
          </a:xfrm>
          <a:prstGeom prst="rect">
            <a:avLst/>
          </a:prstGeom>
          <a:noFill/>
        </p:spPr>
        <p:txBody>
          <a:bodyPr wrap="square">
            <a:spAutoFit/>
          </a:bodyPr>
          <a:lstStyle/>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Organic is the strongest acquisition channel with the highest volume and reasonably fast conversions. </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CPC is slowest and low volume, needing optimization and better targeting.</a:t>
            </a:r>
            <a:endParaRPr lang="en-AU" sz="1900" dirty="0">
              <a:solidFill>
                <a:schemeClr val="tx1">
                  <a:lumMod val="75000"/>
                  <a:lumOff val="25000"/>
                </a:schemeClr>
              </a:solidFill>
            </a:endParaRPr>
          </a:p>
        </p:txBody>
      </p:sp>
    </p:spTree>
    <p:extLst>
      <p:ext uri="{BB962C8B-B14F-4D97-AF65-F5344CB8AC3E}">
        <p14:creationId xmlns:p14="http://schemas.microsoft.com/office/powerpoint/2010/main" val="265284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94056-C54A-6F29-BF01-EE8C0E2C4253}"/>
              </a:ext>
            </a:extLst>
          </p:cNvPr>
          <p:cNvSpPr>
            <a:spLocks noGrp="1"/>
          </p:cNvSpPr>
          <p:nvPr>
            <p:ph type="title"/>
          </p:nvPr>
        </p:nvSpPr>
        <p:spPr/>
        <p:txBody>
          <a:bodyPr vert="horz" lIns="91440" tIns="45720" rIns="91440" bIns="45720" rtlCol="0" anchor="b">
            <a:noAutofit/>
          </a:bodyPr>
          <a:lstStyle/>
          <a:p>
            <a:r>
              <a:rPr lang="en-US" sz="3600" dirty="0"/>
              <a:t>Does time of day impact purchase duration?</a:t>
            </a:r>
            <a:endParaRPr lang="en-AU" sz="3600" dirty="0"/>
          </a:p>
        </p:txBody>
      </p:sp>
      <p:pic>
        <p:nvPicPr>
          <p:cNvPr id="5" name="Content Placeholder 4">
            <a:extLst>
              <a:ext uri="{FF2B5EF4-FFF2-40B4-BE49-F238E27FC236}">
                <a16:creationId xmlns:a16="http://schemas.microsoft.com/office/drawing/2014/main" id="{558C845D-B479-9D7D-FCBF-8D2D1A1AC918}"/>
              </a:ext>
            </a:extLst>
          </p:cNvPr>
          <p:cNvPicPr>
            <a:picLocks noGrp="1" noChangeAspect="1"/>
          </p:cNvPicPr>
          <p:nvPr>
            <p:ph idx="1"/>
          </p:nvPr>
        </p:nvPicPr>
        <p:blipFill>
          <a:blip r:embed="rId2"/>
          <a:stretch>
            <a:fillRect/>
          </a:stretch>
        </p:blipFill>
        <p:spPr>
          <a:xfrm>
            <a:off x="1097279" y="2350208"/>
            <a:ext cx="6271467" cy="3082404"/>
          </a:xfrm>
          <a:prstGeom prst="rect">
            <a:avLst/>
          </a:prstGeom>
        </p:spPr>
      </p:pic>
      <p:sp>
        <p:nvSpPr>
          <p:cNvPr id="7" name="TextBox 6">
            <a:extLst>
              <a:ext uri="{FF2B5EF4-FFF2-40B4-BE49-F238E27FC236}">
                <a16:creationId xmlns:a16="http://schemas.microsoft.com/office/drawing/2014/main" id="{B5379C6B-2988-0021-03B5-84953134E9C8}"/>
              </a:ext>
            </a:extLst>
          </p:cNvPr>
          <p:cNvSpPr txBox="1"/>
          <p:nvPr/>
        </p:nvSpPr>
        <p:spPr>
          <a:xfrm>
            <a:off x="7799294" y="2350208"/>
            <a:ext cx="3012141" cy="2177263"/>
          </a:xfrm>
          <a:prstGeom prst="rect">
            <a:avLst/>
          </a:prstGeom>
          <a:noFill/>
        </p:spPr>
        <p:txBody>
          <a:bodyPr wrap="square">
            <a:spAutoFit/>
          </a:bodyPr>
          <a:lstStyle/>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Night (00:00–04:00) users take twice as long to purchase, suggesting  lower intent at these hours</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Explore marketing optimization by time of day</a:t>
            </a:r>
            <a:endParaRPr lang="en-AU" sz="1900" dirty="0">
              <a:solidFill>
                <a:schemeClr val="tx1">
                  <a:lumMod val="75000"/>
                  <a:lumOff val="25000"/>
                </a:schemeClr>
              </a:solidFill>
            </a:endParaRPr>
          </a:p>
        </p:txBody>
      </p:sp>
    </p:spTree>
    <p:extLst>
      <p:ext uri="{BB962C8B-B14F-4D97-AF65-F5344CB8AC3E}">
        <p14:creationId xmlns:p14="http://schemas.microsoft.com/office/powerpoint/2010/main" val="2384799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EDD7-096B-D5B6-482E-CAA0A501F780}"/>
              </a:ext>
            </a:extLst>
          </p:cNvPr>
          <p:cNvSpPr>
            <a:spLocks noGrp="1"/>
          </p:cNvSpPr>
          <p:nvPr>
            <p:ph type="title"/>
          </p:nvPr>
        </p:nvSpPr>
        <p:spPr/>
        <p:txBody>
          <a:bodyPr>
            <a:normAutofit/>
          </a:bodyPr>
          <a:lstStyle/>
          <a:p>
            <a:r>
              <a:rPr lang="en-AU" sz="3600" dirty="0"/>
              <a:t>What actions should we take?</a:t>
            </a:r>
          </a:p>
        </p:txBody>
      </p:sp>
      <p:sp>
        <p:nvSpPr>
          <p:cNvPr id="3" name="Content Placeholder 2">
            <a:extLst>
              <a:ext uri="{FF2B5EF4-FFF2-40B4-BE49-F238E27FC236}">
                <a16:creationId xmlns:a16="http://schemas.microsoft.com/office/drawing/2014/main" id="{FF708375-A34C-D128-3E16-6F5CC994BD18}"/>
              </a:ext>
            </a:extLst>
          </p:cNvPr>
          <p:cNvSpPr>
            <a:spLocks noGrp="1"/>
          </p:cNvSpPr>
          <p:nvPr>
            <p:ph idx="1"/>
          </p:nvPr>
        </p:nvSpPr>
        <p:spPr/>
        <p:txBody>
          <a:bodyPr>
            <a:normAutofit/>
          </a:bodyPr>
          <a:lstStyle/>
          <a:p>
            <a:endParaRPr lang="en-US" dirty="0"/>
          </a:p>
          <a:p>
            <a:endParaRPr lang="en-US" dirty="0"/>
          </a:p>
          <a:p>
            <a:endParaRPr lang="en-AU" dirty="0"/>
          </a:p>
        </p:txBody>
      </p:sp>
      <p:sp>
        <p:nvSpPr>
          <p:cNvPr id="5" name="TextBox 4">
            <a:extLst>
              <a:ext uri="{FF2B5EF4-FFF2-40B4-BE49-F238E27FC236}">
                <a16:creationId xmlns:a16="http://schemas.microsoft.com/office/drawing/2014/main" id="{86B58803-7CD9-AAA7-EC05-E5EA72E5F855}"/>
              </a:ext>
            </a:extLst>
          </p:cNvPr>
          <p:cNvSpPr txBox="1"/>
          <p:nvPr/>
        </p:nvSpPr>
        <p:spPr>
          <a:xfrm>
            <a:off x="1036319" y="2387474"/>
            <a:ext cx="9710569" cy="2857962"/>
          </a:xfrm>
          <a:prstGeom prst="rect">
            <a:avLst/>
          </a:prstGeom>
          <a:noFill/>
        </p:spPr>
        <p:txBody>
          <a:bodyPr wrap="square">
            <a:spAutoFit/>
          </a:bodyPr>
          <a:lstStyle/>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Prioritize Desktop optimization by speeding up desktop checkout flow (remove extra steps, add reminders/autofill)</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Reassess targeting, landing page of CPC campaigns, and consider relocating budget if results do not improve</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Improve tracking setup to reduce “Unknown” category</a:t>
            </a:r>
          </a:p>
          <a:p>
            <a:pPr marL="91440" indent="-91440">
              <a:lnSpc>
                <a:spcPct val="110000"/>
              </a:lnSpc>
              <a:spcBef>
                <a:spcPts val="1200"/>
              </a:spcBef>
              <a:spcAft>
                <a:spcPts val="200"/>
              </a:spcAft>
              <a:buClr>
                <a:schemeClr val="accent1"/>
              </a:buClr>
              <a:buSzPct val="100000"/>
              <a:buFont typeface="Wingdings" panose="05000000000000000000" pitchFamily="2" charset="2"/>
              <a:buChar char="§"/>
            </a:pPr>
            <a:r>
              <a:rPr lang="en-US" sz="1900" dirty="0">
                <a:solidFill>
                  <a:schemeClr val="tx1">
                    <a:lumMod val="75000"/>
                    <a:lumOff val="25000"/>
                  </a:schemeClr>
                </a:solidFill>
              </a:rPr>
              <a:t> Prioritize marketing efforts and promotions during daytime slots, consider reminders for night users</a:t>
            </a:r>
          </a:p>
        </p:txBody>
      </p:sp>
    </p:spTree>
    <p:extLst>
      <p:ext uri="{BB962C8B-B14F-4D97-AF65-F5344CB8AC3E}">
        <p14:creationId xmlns:p14="http://schemas.microsoft.com/office/powerpoint/2010/main" val="4256619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1B1C6-10A8-B453-81A6-16656AC5E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22325-F72D-1255-9967-59C319AC8505}"/>
              </a:ext>
            </a:extLst>
          </p:cNvPr>
          <p:cNvSpPr>
            <a:spLocks noGrp="1"/>
          </p:cNvSpPr>
          <p:nvPr>
            <p:ph type="title"/>
          </p:nvPr>
        </p:nvSpPr>
        <p:spPr/>
        <p:txBody>
          <a:bodyPr>
            <a:normAutofit/>
          </a:bodyPr>
          <a:lstStyle/>
          <a:p>
            <a:r>
              <a:rPr lang="en-US" sz="3600" dirty="0"/>
              <a:t>What are the limitations of this analysis?</a:t>
            </a:r>
            <a:endParaRPr lang="en-AU" sz="3600" dirty="0"/>
          </a:p>
        </p:txBody>
      </p:sp>
      <p:sp>
        <p:nvSpPr>
          <p:cNvPr id="5" name="Rectangle 2">
            <a:extLst>
              <a:ext uri="{FF2B5EF4-FFF2-40B4-BE49-F238E27FC236}">
                <a16:creationId xmlns:a16="http://schemas.microsoft.com/office/drawing/2014/main" id="{166E3B34-9E5D-5D30-641C-53F9B1F1246E}"/>
              </a:ext>
            </a:extLst>
          </p:cNvPr>
          <p:cNvSpPr>
            <a:spLocks noGrp="1" noChangeArrowheads="1"/>
          </p:cNvSpPr>
          <p:nvPr>
            <p:ph idx="1"/>
          </p:nvPr>
        </p:nvSpPr>
        <p:spPr bwMode="auto">
          <a:xfrm>
            <a:off x="1183144" y="2437002"/>
            <a:ext cx="9972535" cy="285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buFont typeface="Wingdings" panose="05000000000000000000" pitchFamily="2" charset="2"/>
              <a:buChar char="§"/>
            </a:pPr>
            <a:r>
              <a:rPr lang="en-US" altLang="en-US" dirty="0"/>
              <a:t> Without details on the type of product or website complexity, it is difficult to judge whether measured purchase durations are unusually long or acceptable.</a:t>
            </a:r>
          </a:p>
          <a:p>
            <a:pPr marR="0" lvl="0" fontAlgn="base">
              <a:buFont typeface="Wingdings" panose="05000000000000000000" pitchFamily="2" charset="2"/>
              <a:buChar char="§"/>
              <a:tabLst/>
            </a:pPr>
            <a:r>
              <a:rPr lang="en-US" altLang="en-US" dirty="0"/>
              <a:t> Only purchases completed on the same calendar day are included. Users who return the next day are excluded.</a:t>
            </a:r>
          </a:p>
          <a:p>
            <a:pPr marR="0" lvl="0" fontAlgn="base">
              <a:buFont typeface="Wingdings" panose="05000000000000000000" pitchFamily="2" charset="2"/>
              <a:buChar char="§"/>
              <a:tabLst/>
            </a:pPr>
            <a:r>
              <a:rPr lang="en-US" altLang="en-US" dirty="0"/>
              <a:t> New buyers and repeat buyers are grouped together, even though they likely have different purchasing behaviors.</a:t>
            </a:r>
          </a:p>
          <a:p>
            <a:pPr marR="0" fontAlgn="base">
              <a:buFont typeface="Wingdings" panose="05000000000000000000" pitchFamily="2" charset="2"/>
              <a:buChar char="§"/>
              <a:tabLst/>
            </a:pPr>
            <a:r>
              <a:rPr lang="en-US" altLang="en-US" dirty="0"/>
              <a:t> There is no revenue weighting, all purchases are treated equally.</a:t>
            </a:r>
          </a:p>
        </p:txBody>
      </p:sp>
    </p:spTree>
    <p:extLst>
      <p:ext uri="{BB962C8B-B14F-4D97-AF65-F5344CB8AC3E}">
        <p14:creationId xmlns:p14="http://schemas.microsoft.com/office/powerpoint/2010/main" val="162718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B36AE-B5FF-6782-E5D7-B0A62C4641AE}"/>
              </a:ext>
            </a:extLst>
          </p:cNvPr>
          <p:cNvSpPr>
            <a:spLocks noGrp="1"/>
          </p:cNvSpPr>
          <p:nvPr>
            <p:ph type="title"/>
          </p:nvPr>
        </p:nvSpPr>
        <p:spPr/>
        <p:txBody>
          <a:bodyPr>
            <a:normAutofit/>
          </a:bodyPr>
          <a:lstStyle/>
          <a:p>
            <a:r>
              <a:rPr lang="en-US" sz="3600" dirty="0"/>
              <a:t>What further analysis can be done?</a:t>
            </a:r>
            <a:endParaRPr lang="en-AU" sz="3600" dirty="0"/>
          </a:p>
        </p:txBody>
      </p:sp>
      <p:sp>
        <p:nvSpPr>
          <p:cNvPr id="3" name="Content Placeholder 2">
            <a:extLst>
              <a:ext uri="{FF2B5EF4-FFF2-40B4-BE49-F238E27FC236}">
                <a16:creationId xmlns:a16="http://schemas.microsoft.com/office/drawing/2014/main" id="{BE28A28E-5A63-610F-E5E0-E48C2DC39004}"/>
              </a:ext>
            </a:extLst>
          </p:cNvPr>
          <p:cNvSpPr>
            <a:spLocks noGrp="1"/>
          </p:cNvSpPr>
          <p:nvPr>
            <p:ph idx="1"/>
          </p:nvPr>
        </p:nvSpPr>
        <p:spPr/>
        <p:txBody>
          <a:bodyPr>
            <a:normAutofit/>
          </a:bodyPr>
          <a:lstStyle/>
          <a:p>
            <a:pPr fontAlgn="base">
              <a:buFont typeface="Wingdings" panose="05000000000000000000" pitchFamily="2" charset="2"/>
              <a:buChar char="§"/>
            </a:pPr>
            <a:r>
              <a:rPr lang="en-US" dirty="0"/>
              <a:t> Extend analysis beyond same-day to capture delayed purchases and repeat visits.</a:t>
            </a:r>
          </a:p>
          <a:p>
            <a:pPr fontAlgn="base">
              <a:buFont typeface="Wingdings" panose="05000000000000000000" pitchFamily="2" charset="2"/>
              <a:buChar char="§"/>
            </a:pPr>
            <a:r>
              <a:rPr lang="en-US" dirty="0"/>
              <a:t> Cohort segmentation (new and repeat buyers)</a:t>
            </a:r>
          </a:p>
          <a:p>
            <a:pPr fontAlgn="base">
              <a:buFont typeface="Wingdings" panose="05000000000000000000" pitchFamily="2" charset="2"/>
              <a:buChar char="§"/>
            </a:pPr>
            <a:r>
              <a:rPr lang="en-AU" dirty="0"/>
              <a:t> Incorporate order value into metrics</a:t>
            </a:r>
          </a:p>
          <a:p>
            <a:pPr fontAlgn="base">
              <a:buFont typeface="Wingdings" panose="05000000000000000000" pitchFamily="2" charset="2"/>
              <a:buChar char="§"/>
            </a:pPr>
            <a:r>
              <a:rPr lang="en-AU" dirty="0"/>
              <a:t> Investigate outliers to check if very long purchase durations are due to site issues, low intent browsing or research customers?</a:t>
            </a:r>
          </a:p>
          <a:p>
            <a:pPr fontAlgn="base">
              <a:buFont typeface="Wingdings" panose="05000000000000000000" pitchFamily="2" charset="2"/>
              <a:buChar char="§"/>
            </a:pPr>
            <a:r>
              <a:rPr lang="en-AU" dirty="0"/>
              <a:t> Run A/B tests on desktop checkout improvements</a:t>
            </a:r>
          </a:p>
          <a:p>
            <a:endParaRPr lang="en-AU" dirty="0"/>
          </a:p>
          <a:p>
            <a:endParaRPr lang="en-AU" dirty="0"/>
          </a:p>
        </p:txBody>
      </p:sp>
    </p:spTree>
    <p:extLst>
      <p:ext uri="{BB962C8B-B14F-4D97-AF65-F5344CB8AC3E}">
        <p14:creationId xmlns:p14="http://schemas.microsoft.com/office/powerpoint/2010/main" val="3023064102"/>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{8BBEF384-1127-4D65-8888-D28BE05A77AF}tf22712842_win32</Template>
  <TotalTime>2937</TotalTime>
  <Words>519</Words>
  <Application>Microsoft Office PowerPoint</Application>
  <PresentationFormat>Widescreen</PresentationFormat>
  <Paragraphs>46</Paragraphs>
  <Slides>10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Bookman Old Style</vt:lpstr>
      <vt:lpstr>Calibri</vt:lpstr>
      <vt:lpstr>Franklin Gothic Book</vt:lpstr>
      <vt:lpstr>Wingdings</vt:lpstr>
      <vt:lpstr>Custom</vt:lpstr>
      <vt:lpstr>Same-Day Purchase Speed Analysis</vt:lpstr>
      <vt:lpstr>Objectives</vt:lpstr>
      <vt:lpstr>How fast do users purchase after arriving?</vt:lpstr>
      <vt:lpstr>Has purchase speed changed over time?</vt:lpstr>
      <vt:lpstr> Do purchase speeds differ by device types?</vt:lpstr>
      <vt:lpstr>Which medium bring faster or slower buyers?</vt:lpstr>
      <vt:lpstr>Does time of day impact purchase duration?</vt:lpstr>
      <vt:lpstr>What actions should we take?</vt:lpstr>
      <vt:lpstr>What are the limitations of this analysis?</vt:lpstr>
      <vt:lpstr>What further analysis can be done?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Mymymy</dc:creator>
  <cp:lastModifiedBy>Mymymy</cp:lastModifiedBy>
  <cp:revision>11</cp:revision>
  <dcterms:created xsi:type="dcterms:W3CDTF">2025-09-23T04:08:32Z</dcterms:created>
  <dcterms:modified xsi:type="dcterms:W3CDTF">2025-09-25T05:05:48Z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